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E2761"/>
                </a:solidFill>
                <a:latin typeface="Cambria"/>
              </a:rPr>
              <a:t>Total Revenue by Gender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B8-1C4A-89B9-1FB2D5665A01}"/>
              </c:ext>
            </c:extLst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B8-1C4A-89B9-1FB2D5665A01}"/>
              </c:ext>
            </c:extLst>
          </c:dPt>
          <c:dLbls>
            <c:numFmt formatCode="\₹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2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8606539</c:v>
                </c:pt>
                <c:pt idx="1">
                  <c:v>12832149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B8-1C4A-89B9-1FB2D5665A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\₹#,##0,,&quot;M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E2761"/>
                </a:solidFill>
                <a:latin typeface="Cambria"/>
              </a:rPr>
              <a:t>Customer Segments (n = 3,900)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0D-0C4B-999F-CDA353617BCB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0D-0C4B-999F-CDA353617BCB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0D-0C4B-999F-CDA353617BCB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D0D-0C4B-999F-CDA353617BCB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D0D-0C4B-999F-CDA353617BCB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D0D-0C4B-999F-CDA353617BC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700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0D-0C4B-999F-CDA353617B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2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mbria"/>
              </a:rPr>
              <a:t>Top 5 Products by Review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2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Shoes</c:v>
                </c:pt>
                <c:pt idx="1">
                  <c:v>Kurta</c:v>
                </c:pt>
                <c:pt idx="2">
                  <c:v>Sneakers</c:v>
                </c:pt>
                <c:pt idx="3">
                  <c:v>Sandals</c:v>
                </c:pt>
                <c:pt idx="4">
                  <c:v>Cap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3.89</c:v>
                </c:pt>
                <c:pt idx="1">
                  <c:v>3.87</c:v>
                </c:pt>
                <c:pt idx="2">
                  <c:v>3.83</c:v>
                </c:pt>
                <c:pt idx="3">
                  <c:v>3.81</c:v>
                </c:pt>
                <c:pt idx="4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94-3644-86F4-33BEFFD767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2"/>
          <c:min val="0"/>
        </c:scaling>
        <c:delete val="0"/>
        <c:axPos val="b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E2761"/>
                </a:solidFill>
                <a:latin typeface="Cambria"/>
              </a:rPr>
              <a:t>Top 5 Most Discount-Dependent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2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Sunglasses</c:v>
                </c:pt>
                <c:pt idx="1">
                  <c:v>Coat</c:v>
                </c:pt>
                <c:pt idx="2">
                  <c:v>Loafers</c:v>
                </c:pt>
                <c:pt idx="3">
                  <c:v>Belt</c:v>
                </c:pt>
                <c:pt idx="4">
                  <c:v>Mojaris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49.6</c:v>
                </c:pt>
                <c:pt idx="1">
                  <c:v>49.07</c:v>
                </c:pt>
                <c:pt idx="2">
                  <c:v>47.73</c:v>
                </c:pt>
                <c:pt idx="3">
                  <c:v>47.54</c:v>
                </c:pt>
                <c:pt idx="4">
                  <c:v>47.5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5-644E-B775-AB92CB7D94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2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"/>
          <c:min val="0"/>
        </c:scaling>
        <c:delete val="0"/>
        <c:axPos val="b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397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Behaviour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3,900 transactions into segmentation, retention, and revenue strategy — an end-to-end case study across Python, SQL, and Power BI.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74066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4C56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776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08176" y="3977640"/>
            <a:ext cx="66294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4C56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977640"/>
            <a:ext cx="6629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35708" y="3977640"/>
            <a:ext cx="89611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4C56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5708" y="397764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6412" y="3977640"/>
            <a:ext cx="15179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4C56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6412" y="3977640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5806440"/>
            <a:ext cx="27432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943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PRAGYA SINGH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Candidate  • rajputpragya2026@gmail.com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28216"/>
            <a:ext cx="232257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" y="2365553"/>
            <a:ext cx="232257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transactions analysed across 18 attributes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60020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728216"/>
            <a:ext cx="232257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₹21.4M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55848" y="2365553"/>
            <a:ext cx="232257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represented in the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60020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99048" y="1728216"/>
            <a:ext cx="232257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9048" y="2365553"/>
            <a:ext cx="232257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product review rating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1600200"/>
            <a:ext cx="254203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42248" y="1728216"/>
            <a:ext cx="2322576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42248" y="2365553"/>
            <a:ext cx="232257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hold an active subscription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11183112" cy="2880360"/>
          </a:xfrm>
          <a:prstGeom prst="roundRect">
            <a:avLst>
              <a:gd name="adj" fmla="val 2540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56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3977640"/>
            <a:ext cx="106070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engineered a 3,900-row retail transactions dataset in Python (Pandas), handling missing values, redundant fields, and derived features such as age_group and purchase_frequency_days.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10 core business questions in MySQL — revenue drivers, discount sensitivity, shipping economics, and customer segmentation.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an interactive Power BI dashboard translating the analysis into a decision-ready tool for marketing and retention teams.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accumulate rich transactional data but rarely convert it into action. Without knowing who their highest-value customers are, why discounts erode margins, and whether subscriptions actually retain shoppers, marketing spend and loyalty programs are built on guesswork rather than evidence.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customer segments and behaviours drive the most revenue — and how should the business act on that?”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457200" cy="457200"/>
          </a:xfrm>
          <a:prstGeom prst="ellipse">
            <a:avLst/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02552" y="21671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 segments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2552" y="245973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revenue by gender, age, and loyalty tier.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3182112"/>
            <a:ext cx="457200" cy="457200"/>
          </a:xfrm>
          <a:prstGeom prst="ellipse">
            <a:avLst/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02552" y="3154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subscription &amp; loyalty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02552" y="3447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subscribers and repeat buyers truly out-spend others.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4169664"/>
            <a:ext cx="457200" cy="457200"/>
          </a:xfrm>
          <a:prstGeom prst="ellipse">
            <a:avLst/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02552" y="41422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product &amp; discount sensitivity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02552" y="4434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categories that depend on discounting to sell.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5157216"/>
            <a:ext cx="457200" cy="457200"/>
          </a:xfrm>
          <a:prstGeom prst="ellipse">
            <a:avLst/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5157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02552" y="51297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decision-ready dashboard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02552" y="5422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stakeholders a self-serve Power BI view, not a static report.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WAS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&amp; Clean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319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3,900 records; audited nulls in Age, Gender, Location, Review Rating and Payment Method.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99816" y="3429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87452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EDF2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&amp; Structure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66160" y="3319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36576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ratings by category median, standardised to snake_case, built age_group &amp; purchase_frequency_days.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4456" y="3429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2834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&amp; Analyse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0" y="3319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6576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 data into MySQL; answered 10 business questions with joins, aggregations &amp; window logic.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69096" y="3429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06840" y="187452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EDF2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2148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35440" y="2834640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 &amp; Report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235440" y="33192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3657600"/>
            <a:ext cx="21579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slicers for subscription, gender, category and shipping type.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Challenges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3500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missing values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Age, Gender &amp; Location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94436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missing values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 Rating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5387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missing values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Payment Method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41330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field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 duplicated discount_applied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47274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mixed-case column headers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20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Applied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4688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647688" y="23500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Category-median imputation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missing Review Rating values, preserving category-level rating distribution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336499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647688" y="3246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naming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 converted to snake_case for consistency and downstream SQL use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4261104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688" y="41422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age_group (binned) and purchase_frequency_days for segmentation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5157216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647688" y="503834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and dropped promo_code_used after confirming overlap with discount_applied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 · 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Drives the Revenue?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3736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73736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07808" y="1865376"/>
            <a:ext cx="398678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₹21.4M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07808" y="2389327"/>
            <a:ext cx="39867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across both segments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98080" y="29260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07808" y="3054096"/>
            <a:ext cx="3986784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07808" y="3578047"/>
            <a:ext cx="39867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revenue from male customers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98080" y="411480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4279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45720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contribute nearly 3 in 5 revenue rupees despite a comparable transaction count — signalling higher average order values worth targeting with premium bundles and male-focused campaigns.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· 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Loyalty Base Worth Protecting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91640"/>
          <a:ext cx="5303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37960" y="1691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47688" y="1819656"/>
            <a:ext cx="494690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79.9%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647688" y="2315261"/>
            <a:ext cx="494690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already sit in the “Loyal” tier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37960" y="283464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47688" y="2962656"/>
            <a:ext cx="494690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647688" y="3458261"/>
            <a:ext cx="4946904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acquired — the smallest segment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7960" y="3977640"/>
            <a:ext cx="5166360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812280" y="416052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12280" y="4462272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Retention, not acquisition, is this business's biggest lever — with 4 out of 5 customers already loyal, small improvements in repeat-purchase experience compound across the largest possible base. New-customer inflow is comparatively thin and deserves its own funnel review.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 · SUBSCRIPTION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Subscriptions: Untapped, Not Underperforming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6F8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Non-Subscribers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2,846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₹5,534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₹15.75M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423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80560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₹5,397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749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₹5.69M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83080"/>
            <a:ext cx="3730752" cy="2606040"/>
          </a:xfrm>
          <a:prstGeom prst="roundRect">
            <a:avLst>
              <a:gd name="adj" fmla="val 2807"/>
            </a:avLst>
          </a:prstGeom>
          <a:solidFill>
            <a:srgbClr val="EDF2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984248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Repeat-buyer rate is similar either way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1312" y="265176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subscribers are repeat buyers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11312" y="3200400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non-subscribers are repeat buyers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18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already buy almost as loyally as non-subscribers, but there are 2.7x fewer of them — the loyalty behaviour exists, the subscription conversion doesn't. Converting even a fraction of the 2,518 non-subscribed repeat buyers into subscribers is the fastest path to incremental revenue.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 · PRODUCT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Quality vs. Price Sensitivity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73736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737360"/>
          <a:ext cx="5440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and everyday apparel earn the strongest ratings and can anchor campaigns at full price, while accessories and outerwear — where nearly half of sales already involve a discount — need a pricing or bundling review before margins erode further.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6903720" cy="4206240"/>
          </a:xfrm>
          <a:prstGeom prst="roundRect">
            <a:avLst>
              <a:gd name="adj" fmla="val 1739"/>
            </a:avLst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38528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19354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87040" y="2377440"/>
            <a:ext cx="19354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987040" y="2468880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₹5.50K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87040" y="2944368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96840" y="2377440"/>
            <a:ext cx="193548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196840" y="2468880"/>
            <a:ext cx="193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96840" y="2944368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520440"/>
            <a:ext cx="1935480" cy="2148840"/>
          </a:xfrm>
          <a:prstGeom prst="roundRect">
            <a:avLst>
              <a:gd name="adj" fmla="val 2835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480560"/>
            <a:ext cx="27432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1417320" y="4160520"/>
            <a:ext cx="27432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4617720"/>
            <a:ext cx="27432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0280" y="3977640"/>
            <a:ext cx="274320" cy="960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056632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60120" y="5349240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leads, Outerwear trails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87040" y="3520440"/>
            <a:ext cx="1935480" cy="2148840"/>
          </a:xfrm>
          <a:prstGeom prst="roundRect">
            <a:avLst>
              <a:gd name="adj" fmla="val 2835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4480560"/>
            <a:ext cx="27432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4" name="Shape 22"/>
          <p:cNvSpPr/>
          <p:nvPr/>
        </p:nvSpPr>
        <p:spPr>
          <a:xfrm>
            <a:off x="3627120" y="4160520"/>
            <a:ext cx="27432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5" name="Shape 23"/>
          <p:cNvSpPr/>
          <p:nvPr/>
        </p:nvSpPr>
        <p:spPr>
          <a:xfrm>
            <a:off x="4038600" y="4617720"/>
            <a:ext cx="27432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6" name="Shape 24"/>
          <p:cNvSpPr/>
          <p:nvPr/>
        </p:nvSpPr>
        <p:spPr>
          <a:xfrm>
            <a:off x="4450080" y="3977640"/>
            <a:ext cx="274320" cy="960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3169920" y="5056632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69920" y="5349240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Under-25 is the top contributor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96840" y="3520440"/>
            <a:ext cx="1935480" cy="2148840"/>
          </a:xfrm>
          <a:prstGeom prst="roundRect">
            <a:avLst>
              <a:gd name="adj" fmla="val 2835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5425440" y="4480560"/>
            <a:ext cx="27432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1" name="Shape 29"/>
          <p:cNvSpPr/>
          <p:nvPr/>
        </p:nvSpPr>
        <p:spPr>
          <a:xfrm>
            <a:off x="5836920" y="4160520"/>
            <a:ext cx="274320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8400" y="4617720"/>
            <a:ext cx="274320" cy="3200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3" name="Shape 31"/>
          <p:cNvSpPr/>
          <p:nvPr/>
        </p:nvSpPr>
        <p:spPr>
          <a:xfrm>
            <a:off x="6659880" y="3977640"/>
            <a:ext cx="274320" cy="9601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5379720" y="5056632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Shipping Type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79720" y="5349240"/>
            <a:ext cx="156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dominates by volume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26680" y="173736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self-serve exploration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7726680" y="2468880"/>
            <a:ext cx="395935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Subscription Status, Gender, Category and Shipping Type let stakeholders filter live.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surface customer count, average purchase value and average rating at a glance.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sales breakdowns by category and age group support merchandising and marketing decisions.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hand off to non-technical business users — no SQL required to explore.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INSIGHT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751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exclusive subscriber benefits to convert the 2,518 non-subscribed repeat buyers — the segment already behaving like loyal customers.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9933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19751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Loyalty Programs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78040" y="235915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the 3,116 “Loyal” customers to protect the 80% of the base that generates the bulk of revenue.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High-Revenue Segments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17320" y="450799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campaigns toward male customers and top-performing age groups, and toward express-shipping users.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6F8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142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142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41239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Rebalance Product Positioning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78040" y="4507992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campaigns with top-rated items (Shoes, Kurta, Sneakers) and review pricing on discount-dependent accessories.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137392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1084</Words>
  <Application>Microsoft Macintosh PowerPoint</Application>
  <PresentationFormat>Widescreen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Pragya Singh</cp:lastModifiedBy>
  <cp:revision>2</cp:revision>
  <dcterms:created xsi:type="dcterms:W3CDTF">2026-09-03T07:10:32Z</dcterms:created>
  <dcterms:modified xsi:type="dcterms:W3CDTF">2026-09-03T07:48:00Z</dcterms:modified>
</cp:coreProperties>
</file>